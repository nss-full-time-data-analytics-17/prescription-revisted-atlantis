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2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0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98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27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6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50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0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28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151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383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78706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818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2534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593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8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5B95027-4255-49E7-9841-CD21BCC99996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98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44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C7A92A-C73C-5ADB-C070-05542979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Spending on Opioids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36D91-0266-B309-FE64-B705C97A7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we looked at how the amount spent on opioids related to overdose deaths, both in strict numbers and as compared to non-opioid prescription spending.</a:t>
            </a:r>
          </a:p>
          <a:p>
            <a:r>
              <a:rPr lang="en-US" dirty="0"/>
              <a:t>To normalize the available data, we compared annual averages per capita across the counties of Tennessee. </a:t>
            </a:r>
          </a:p>
        </p:txBody>
      </p:sp>
    </p:spTree>
    <p:extLst>
      <p:ext uri="{BB962C8B-B14F-4D97-AF65-F5344CB8AC3E}">
        <p14:creationId xmlns:p14="http://schemas.microsoft.com/office/powerpoint/2010/main" val="3942736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6050-AE27-E9E0-BD2E-A89720EE9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Death rates vary within narrow band of spending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70CB1-BE41-D18B-18B1-C18D6B03F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703" y="2336873"/>
            <a:ext cx="4449975" cy="3599316"/>
          </a:xfrm>
        </p:spPr>
        <p:txBody>
          <a:bodyPr/>
          <a:lstStyle/>
          <a:p>
            <a:r>
              <a:rPr lang="en-US" dirty="0"/>
              <a:t>Most Tennessee counties spend, on average, less than $10 per resident on opioid prescriptions each year, but average annual overdose death rates per hundred thousand range from zero to over 40.</a:t>
            </a:r>
          </a:p>
        </p:txBody>
      </p:sp>
      <p:pic>
        <p:nvPicPr>
          <p:cNvPr id="13" name="Picture 12" descr="A graph showing the amount of blood in the blood&#10;&#10;AI-generated content may be incorrect.">
            <a:extLst>
              <a:ext uri="{FF2B5EF4-FFF2-40B4-BE49-F238E27FC236}">
                <a16:creationId xmlns:a16="http://schemas.microsoft.com/office/drawing/2014/main" id="{47A44A0B-2929-D7F2-79CE-8C5A17008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52" y="2213791"/>
            <a:ext cx="6547117" cy="410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7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E3B8-0442-09BB-61EF-EA6F5C855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 of prescription spending on opioids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9EB75-4072-3A4C-80DB-43AA61829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1673" y="2336873"/>
            <a:ext cx="3971636" cy="3599316"/>
          </a:xfrm>
        </p:spPr>
        <p:txBody>
          <a:bodyPr/>
          <a:lstStyle/>
          <a:p>
            <a:r>
              <a:rPr lang="en-US" dirty="0"/>
              <a:t>For over 75% of Tennessee counties, less than 6% of prescription drug costs go to opioids.  But for Clay, Coffee, and Montgomery counties, that number is over 8%, and in Benton 18.7% of prescription costs are for opioids.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B89FF-215A-1E07-2AD5-01912BCBC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94" y="2170618"/>
            <a:ext cx="7327606" cy="308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03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3A4F3-F8B8-16F6-46F8-EB0486606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233224" cy="1080938"/>
          </a:xfrm>
        </p:spPr>
        <p:txBody>
          <a:bodyPr>
            <a:normAutofit/>
          </a:bodyPr>
          <a:lstStyle/>
          <a:p>
            <a:r>
              <a:rPr lang="en-US" sz="3200" dirty="0"/>
              <a:t>Increased proportion of opioid spending not related to death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F46BC-0EDC-369A-2F9D-47563CB5F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2509" y="2336873"/>
            <a:ext cx="3768436" cy="3599316"/>
          </a:xfrm>
        </p:spPr>
        <p:txBody>
          <a:bodyPr/>
          <a:lstStyle/>
          <a:p>
            <a:r>
              <a:rPr lang="en-US" dirty="0"/>
              <a:t>The percentage of prescription costs spent on opioids has no strong correlation with the overdose death rate across Tennessee counties, with a correlation coefficient of 0.054.</a:t>
            </a:r>
          </a:p>
        </p:txBody>
      </p:sp>
      <p:pic>
        <p:nvPicPr>
          <p:cNvPr id="7" name="Picture 6" descr="A graph showing numbers and percentages of prescriptions&#10;&#10;AI-generated content may be incorrect.">
            <a:extLst>
              <a:ext uri="{FF2B5EF4-FFF2-40B4-BE49-F238E27FC236}">
                <a16:creationId xmlns:a16="http://schemas.microsoft.com/office/drawing/2014/main" id="{71AF3F5B-EF99-0DFE-1ACD-7986CFB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76" y="2279723"/>
            <a:ext cx="7342647" cy="410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7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E384-E3A4-0884-7E97-5C9BC650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Prescribers of Opioids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A5C6D-3379-29C7-CDC8-992387E4D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5219699"/>
            <a:ext cx="9613861" cy="1162051"/>
          </a:xfrm>
        </p:spPr>
        <p:txBody>
          <a:bodyPr/>
          <a:lstStyle/>
          <a:p>
            <a:r>
              <a:rPr lang="en-US" dirty="0"/>
              <a:t>The top ten prescribers of opioids, by number of claims, are scattered in the northeastern part of the state, but are particularly concentrated in the counties north of Knoxville.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A3E340-9F71-74A7-D093-C0FA47D7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153084"/>
            <a:ext cx="11591925" cy="294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4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DFCC-74E2-0482-99DB-B1BE6E12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Prescribers of Opioids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E1111-27D5-61FF-DBD6-4F8E16BB2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7164" y="2250851"/>
            <a:ext cx="6307656" cy="3685338"/>
          </a:xfrm>
        </p:spPr>
        <p:txBody>
          <a:bodyPr/>
          <a:lstStyle/>
          <a:p>
            <a:r>
              <a:rPr lang="en-US" dirty="0"/>
              <a:t>The top hundred prescribers by number of opioid claims account for 13.9% of all opioid claims in Tennessee, despite accounting for only 1% of physicians who prescribed opioids from 2013 – 2017.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E8903-A5EF-2C4A-F611-01359EEAC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80" y="2250851"/>
            <a:ext cx="4727457" cy="355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9714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1233</TotalTime>
  <Words>261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Trebuchet MS</vt:lpstr>
      <vt:lpstr>Berlin</vt:lpstr>
      <vt:lpstr>Spending on Opioids</vt:lpstr>
      <vt:lpstr>Death rates vary within narrow band of spending</vt:lpstr>
      <vt:lpstr>Percent of prescription spending on opioids</vt:lpstr>
      <vt:lpstr>Increased proportion of opioid spending not related to death rate</vt:lpstr>
      <vt:lpstr>Top Prescribers of Opioids</vt:lpstr>
      <vt:lpstr>Top Prescribers of Opioids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Raven Edgerton</dc:creator>
  <cp:lastModifiedBy>Raven Edgerton</cp:lastModifiedBy>
  <cp:revision>3</cp:revision>
  <dcterms:created xsi:type="dcterms:W3CDTF">2025-11-18T18:54:41Z</dcterms:created>
  <dcterms:modified xsi:type="dcterms:W3CDTF">2025-11-19T15:28:37Z</dcterms:modified>
</cp:coreProperties>
</file>