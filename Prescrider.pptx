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75" r:id="rId3"/>
    <p:sldId id="262" r:id="rId4"/>
    <p:sldId id="260" r:id="rId5"/>
    <p:sldId id="263" r:id="rId6"/>
    <p:sldId id="266" r:id="rId7"/>
    <p:sldId id="264" r:id="rId8"/>
    <p:sldId id="265" r:id="rId9"/>
    <p:sldId id="269" r:id="rId10"/>
    <p:sldId id="270" r:id="rId11"/>
    <p:sldId id="271" r:id="rId12"/>
    <p:sldId id="259" r:id="rId13"/>
    <p:sldId id="261" r:id="rId14"/>
    <p:sldId id="267" r:id="rId15"/>
    <p:sldId id="268" r:id="rId16"/>
    <p:sldId id="274" r:id="rId17"/>
    <p:sldId id="273" r:id="rId18"/>
    <p:sldId id="272"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652" autoAdjust="0"/>
    <p:restoredTop sz="94660"/>
  </p:normalViewPr>
  <p:slideViewPr>
    <p:cSldViewPr snapToGrid="0">
      <p:cViewPr varScale="1">
        <p:scale>
          <a:sx n="151" d="100"/>
          <a:sy n="151" d="100"/>
        </p:scale>
        <p:origin x="192"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DE85544-3272-459C-8B5C-B5598C272BF8}"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ACA8D9-3184-49B0-8CB2-29B88310CD4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34968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DE85544-3272-459C-8B5C-B5598C272BF8}"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ACA8D9-3184-49B0-8CB2-29B88310CD44}" type="slidenum">
              <a:rPr lang="en-US" smtClean="0"/>
              <a:t>‹#›</a:t>
            </a:fld>
            <a:endParaRPr lang="en-US"/>
          </a:p>
        </p:txBody>
      </p:sp>
    </p:spTree>
    <p:extLst>
      <p:ext uri="{BB962C8B-B14F-4D97-AF65-F5344CB8AC3E}">
        <p14:creationId xmlns:p14="http://schemas.microsoft.com/office/powerpoint/2010/main" val="1991504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DE85544-3272-459C-8B5C-B5598C272BF8}"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ACA8D9-3184-49B0-8CB2-29B88310CD4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54768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DE85544-3272-459C-8B5C-B5598C272BF8}" type="datetimeFigureOut">
              <a:rPr lang="en-US" smtClean="0"/>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DACA8D9-3184-49B0-8CB2-29B88310CD44}" type="slidenum">
              <a:rPr lang="en-US" smtClean="0"/>
              <a:t>‹#›</a:t>
            </a:fld>
            <a:endParaRPr lang="en-US"/>
          </a:p>
        </p:txBody>
      </p:sp>
    </p:spTree>
    <p:extLst>
      <p:ext uri="{BB962C8B-B14F-4D97-AF65-F5344CB8AC3E}">
        <p14:creationId xmlns:p14="http://schemas.microsoft.com/office/powerpoint/2010/main" val="14220932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DE85544-3272-459C-8B5C-B5598C272BF8}" type="datetimeFigureOut">
              <a:rPr lang="en-US" smtClean="0"/>
              <a:t>11/19/2025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DACA8D9-3184-49B0-8CB2-29B88310CD44}" type="slidenum">
              <a:rPr lang="en-US" smtClean="0"/>
              <a:t>‹#›</a:t>
            </a:fld>
            <a:endParaRPr lang="en-US"/>
          </a:p>
        </p:txBody>
      </p:sp>
    </p:spTree>
    <p:extLst>
      <p:ext uri="{BB962C8B-B14F-4D97-AF65-F5344CB8AC3E}">
        <p14:creationId xmlns:p14="http://schemas.microsoft.com/office/powerpoint/2010/main" val="296200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DE85544-3272-459C-8B5C-B5598C272BF8}" type="datetimeFigureOut">
              <a:rPr lang="en-US" smtClean="0"/>
              <a:t>11/19/2025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DACA8D9-3184-49B0-8CB2-29B88310CD44}" type="slidenum">
              <a:rPr lang="en-US" smtClean="0"/>
              <a:t>‹#›</a:t>
            </a:fld>
            <a:endParaRPr lang="en-US"/>
          </a:p>
        </p:txBody>
      </p:sp>
    </p:spTree>
    <p:extLst>
      <p:ext uri="{BB962C8B-B14F-4D97-AF65-F5344CB8AC3E}">
        <p14:creationId xmlns:p14="http://schemas.microsoft.com/office/powerpoint/2010/main" val="3427994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DDE85544-3272-459C-8B5C-B5598C272BF8}" type="datetimeFigureOut">
              <a:rPr lang="en-US" smtClean="0"/>
              <a:t>11/19/2025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9DACA8D9-3184-49B0-8CB2-29B88310CD44}" type="slidenum">
              <a:rPr lang="en-US" smtClean="0"/>
              <a:t>‹#›</a:t>
            </a:fld>
            <a:endParaRPr lang="en-US"/>
          </a:p>
        </p:txBody>
      </p:sp>
    </p:spTree>
    <p:extLst>
      <p:ext uri="{BB962C8B-B14F-4D97-AF65-F5344CB8AC3E}">
        <p14:creationId xmlns:p14="http://schemas.microsoft.com/office/powerpoint/2010/main" val="3538547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DDE85544-3272-459C-8B5C-B5598C272BF8}" type="datetimeFigureOut">
              <a:rPr lang="en-US" smtClean="0"/>
              <a:t>11/19/2025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9DACA8D9-3184-49B0-8CB2-29B88310CD44}" type="slidenum">
              <a:rPr lang="en-US" smtClean="0"/>
              <a:t>‹#›</a:t>
            </a:fld>
            <a:endParaRPr lang="en-US"/>
          </a:p>
        </p:txBody>
      </p:sp>
    </p:spTree>
    <p:extLst>
      <p:ext uri="{BB962C8B-B14F-4D97-AF65-F5344CB8AC3E}">
        <p14:creationId xmlns:p14="http://schemas.microsoft.com/office/powerpoint/2010/main" val="22122041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DE85544-3272-459C-8B5C-B5598C272BF8}" type="datetimeFigureOut">
              <a:rPr lang="en-US" smtClean="0"/>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DACA8D9-3184-49B0-8CB2-29B88310CD44}" type="slidenum">
              <a:rPr lang="en-US" smtClean="0"/>
              <a:t>‹#›</a:t>
            </a:fld>
            <a:endParaRPr lang="en-US"/>
          </a:p>
        </p:txBody>
      </p:sp>
    </p:spTree>
    <p:extLst>
      <p:ext uri="{BB962C8B-B14F-4D97-AF65-F5344CB8AC3E}">
        <p14:creationId xmlns:p14="http://schemas.microsoft.com/office/powerpoint/2010/main" val="1670642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DE85544-3272-459C-8B5C-B5598C272BF8}"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ACA8D9-3184-49B0-8CB2-29B88310CD44}" type="slidenum">
              <a:rPr lang="en-US" smtClean="0"/>
              <a:t>‹#›</a:t>
            </a:fld>
            <a:endParaRPr lang="en-US"/>
          </a:p>
        </p:txBody>
      </p:sp>
    </p:spTree>
    <p:extLst>
      <p:ext uri="{BB962C8B-B14F-4D97-AF65-F5344CB8AC3E}">
        <p14:creationId xmlns:p14="http://schemas.microsoft.com/office/powerpoint/2010/main" val="34863837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DE85544-3272-459C-8B5C-B5598C272BF8}"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ACA8D9-3184-49B0-8CB2-29B88310CD44}" type="slidenum">
              <a:rPr lang="en-US" smtClean="0"/>
              <a:t>‹#›</a:t>
            </a:fld>
            <a:endParaRPr lang="en-US"/>
          </a:p>
        </p:txBody>
      </p:sp>
    </p:spTree>
    <p:extLst>
      <p:ext uri="{BB962C8B-B14F-4D97-AF65-F5344CB8AC3E}">
        <p14:creationId xmlns:p14="http://schemas.microsoft.com/office/powerpoint/2010/main" val="2887933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DDE85544-3272-459C-8B5C-B5598C272BF8}" type="datetimeFigureOut">
              <a:rPr lang="en-US" smtClean="0"/>
              <a:t>11/19/2025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9DACA8D9-3184-49B0-8CB2-29B88310CD44}"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900848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B70B9-C914-B13F-D14E-DFABD00DE8D3}"/>
              </a:ext>
            </a:extLst>
          </p:cNvPr>
          <p:cNvSpPr>
            <a:spLocks noGrp="1"/>
          </p:cNvSpPr>
          <p:nvPr>
            <p:ph type="ctrTitle"/>
          </p:nvPr>
        </p:nvSpPr>
        <p:spPr>
          <a:xfrm>
            <a:off x="1384479" y="1135241"/>
            <a:ext cx="9423042" cy="2387600"/>
          </a:xfrm>
        </p:spPr>
        <p:txBody>
          <a:bodyPr>
            <a:normAutofit/>
          </a:bodyPr>
          <a:lstStyle/>
          <a:p>
            <a:r>
              <a:rPr lang="en-US" sz="6000" dirty="0"/>
              <a:t>Tennessee Opioid Use Trends</a:t>
            </a:r>
          </a:p>
        </p:txBody>
      </p:sp>
      <p:sp>
        <p:nvSpPr>
          <p:cNvPr id="3" name="Subtitle 2">
            <a:extLst>
              <a:ext uri="{FF2B5EF4-FFF2-40B4-BE49-F238E27FC236}">
                <a16:creationId xmlns:a16="http://schemas.microsoft.com/office/drawing/2014/main" id="{94F4DE25-F77B-2756-DC58-9210F7F8E661}"/>
              </a:ext>
            </a:extLst>
          </p:cNvPr>
          <p:cNvSpPr>
            <a:spLocks noGrp="1"/>
          </p:cNvSpPr>
          <p:nvPr>
            <p:ph type="subTitle" idx="1"/>
          </p:nvPr>
        </p:nvSpPr>
        <p:spPr/>
        <p:txBody>
          <a:bodyPr/>
          <a:lstStyle/>
          <a:p>
            <a:r>
              <a:rPr lang="en-US" dirty="0"/>
              <a:t>Team Atlantis</a:t>
            </a:r>
          </a:p>
        </p:txBody>
      </p:sp>
    </p:spTree>
    <p:extLst>
      <p:ext uri="{BB962C8B-B14F-4D97-AF65-F5344CB8AC3E}">
        <p14:creationId xmlns:p14="http://schemas.microsoft.com/office/powerpoint/2010/main" val="1428869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BEB3E-715A-06DB-5F47-38C4545A8E98}"/>
              </a:ext>
            </a:extLst>
          </p:cNvPr>
          <p:cNvSpPr>
            <a:spLocks noGrp="1"/>
          </p:cNvSpPr>
          <p:nvPr>
            <p:ph type="title"/>
          </p:nvPr>
        </p:nvSpPr>
        <p:spPr/>
        <p:txBody>
          <a:bodyPr/>
          <a:lstStyle/>
          <a:p>
            <a:r>
              <a:rPr lang="en-US" dirty="0"/>
              <a:t>Intro</a:t>
            </a:r>
          </a:p>
        </p:txBody>
      </p:sp>
      <p:sp>
        <p:nvSpPr>
          <p:cNvPr id="3" name="Content Placeholder 2">
            <a:extLst>
              <a:ext uri="{FF2B5EF4-FFF2-40B4-BE49-F238E27FC236}">
                <a16:creationId xmlns:a16="http://schemas.microsoft.com/office/drawing/2014/main" id="{6D5E9348-8E53-53FD-5028-5F84D0292444}"/>
              </a:ext>
            </a:extLst>
          </p:cNvPr>
          <p:cNvSpPr>
            <a:spLocks noGrp="1"/>
          </p:cNvSpPr>
          <p:nvPr>
            <p:ph idx="1"/>
          </p:nvPr>
        </p:nvSpPr>
        <p:spPr/>
        <p:txBody>
          <a:bodyPr/>
          <a:lstStyle/>
          <a:p>
            <a:r>
              <a:rPr lang="en-US" dirty="0"/>
              <a:t>Information from the Centers for Medicare &amp; Medicaid Services and the Tennessee Department of Economic and Community Development were combined to search for possible trends in opioid prescriptions, overdose deaths, and unemployment across the period of 2013 to 2018.</a:t>
            </a:r>
          </a:p>
          <a:p>
            <a:r>
              <a:rPr lang="en-US" dirty="0"/>
              <a:t>Our team examined a variety of possible relationships between these variables to explore how opioid use has changed in the state.</a:t>
            </a:r>
          </a:p>
          <a:p>
            <a:endParaRPr lang="en-US" dirty="0"/>
          </a:p>
        </p:txBody>
      </p:sp>
    </p:spTree>
    <p:extLst>
      <p:ext uri="{BB962C8B-B14F-4D97-AF65-F5344CB8AC3E}">
        <p14:creationId xmlns:p14="http://schemas.microsoft.com/office/powerpoint/2010/main" val="14914630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41561-9E29-5F91-53B1-51DA25C16055}"/>
              </a:ext>
            </a:extLst>
          </p:cNvPr>
          <p:cNvSpPr>
            <a:spLocks noGrp="1"/>
          </p:cNvSpPr>
          <p:nvPr>
            <p:ph type="title"/>
          </p:nvPr>
        </p:nvSpPr>
        <p:spPr>
          <a:xfrm>
            <a:off x="630936" y="639520"/>
            <a:ext cx="4023360" cy="1105567"/>
          </a:xfrm>
        </p:spPr>
        <p:txBody>
          <a:bodyPr vert="horz" lIns="91440" tIns="45720" rIns="91440" bIns="45720" rtlCol="0" anchor="b">
            <a:normAutofit fontScale="90000"/>
          </a:bodyPr>
          <a:lstStyle/>
          <a:p>
            <a:r>
              <a:rPr lang="en-US" sz="4400" kern="1200" dirty="0">
                <a:solidFill>
                  <a:schemeClr val="tx1"/>
                </a:solidFill>
                <a:latin typeface="+mj-lt"/>
                <a:ea typeface="+mj-ea"/>
                <a:cs typeface="+mj-cs"/>
              </a:rPr>
              <a:t>Deaths Over Time</a:t>
            </a:r>
          </a:p>
        </p:txBody>
      </p:sp>
      <p:pic>
        <p:nvPicPr>
          <p:cNvPr id="6" name="Content Placeholder 5" descr="A graph with a line&#10;&#10;AI-generated content may be incorrect.">
            <a:extLst>
              <a:ext uri="{FF2B5EF4-FFF2-40B4-BE49-F238E27FC236}">
                <a16:creationId xmlns:a16="http://schemas.microsoft.com/office/drawing/2014/main" id="{5EF31001-8C0C-C463-4816-B601F671207F}"/>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4654296" y="736548"/>
            <a:ext cx="6903720" cy="5384904"/>
          </a:xfrm>
          <a:prstGeom prst="rect">
            <a:avLst/>
          </a:prstGeom>
        </p:spPr>
      </p:pic>
      <p:sp>
        <p:nvSpPr>
          <p:cNvPr id="4" name="Content Placeholder 3">
            <a:extLst>
              <a:ext uri="{FF2B5EF4-FFF2-40B4-BE49-F238E27FC236}">
                <a16:creationId xmlns:a16="http://schemas.microsoft.com/office/drawing/2014/main" id="{4CFB5B3C-1324-386B-83DB-97A83149D2A5}"/>
              </a:ext>
            </a:extLst>
          </p:cNvPr>
          <p:cNvSpPr>
            <a:spLocks noGrp="1"/>
          </p:cNvSpPr>
          <p:nvPr>
            <p:ph sz="half" idx="2"/>
          </p:nvPr>
        </p:nvSpPr>
        <p:spPr>
          <a:xfrm>
            <a:off x="630936" y="2807208"/>
            <a:ext cx="3429000" cy="3410712"/>
          </a:xfrm>
        </p:spPr>
        <p:txBody>
          <a:bodyPr vert="horz" lIns="91440" tIns="45720" rIns="91440" bIns="45720" rtlCol="0" anchor="t">
            <a:normAutofit/>
          </a:bodyPr>
          <a:lstStyle/>
          <a:p>
            <a:r>
              <a:rPr lang="en-US" sz="2200" dirty="0"/>
              <a:t>The rate at which overdose deaths  increasing is slowing down</a:t>
            </a:r>
          </a:p>
          <a:p>
            <a:r>
              <a:rPr lang="en-US" sz="2200" dirty="0"/>
              <a:t>The increase might be due to population growth</a:t>
            </a:r>
          </a:p>
        </p:txBody>
      </p:sp>
    </p:spTree>
    <p:extLst>
      <p:ext uri="{BB962C8B-B14F-4D97-AF65-F5344CB8AC3E}">
        <p14:creationId xmlns:p14="http://schemas.microsoft.com/office/powerpoint/2010/main" val="2015983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A4085D-CF78-4B74-A1C5-6EE9C3F8EB07}"/>
              </a:ext>
            </a:extLst>
          </p:cNvPr>
          <p:cNvSpPr>
            <a:spLocks noGrp="1"/>
          </p:cNvSpPr>
          <p:nvPr>
            <p:ph type="title"/>
          </p:nvPr>
        </p:nvSpPr>
        <p:spPr>
          <a:xfrm>
            <a:off x="630935" y="502920"/>
            <a:ext cx="4906979" cy="1463040"/>
          </a:xfrm>
        </p:spPr>
        <p:txBody>
          <a:bodyPr anchor="ctr">
            <a:normAutofit/>
          </a:bodyPr>
          <a:lstStyle/>
          <a:p>
            <a:r>
              <a:rPr lang="en-US" sz="4800" dirty="0"/>
              <a:t>Deaths Over Time</a:t>
            </a:r>
          </a:p>
        </p:txBody>
      </p:sp>
      <p:sp>
        <p:nvSpPr>
          <p:cNvPr id="9" name="Content Placeholder 8">
            <a:extLst>
              <a:ext uri="{FF2B5EF4-FFF2-40B4-BE49-F238E27FC236}">
                <a16:creationId xmlns:a16="http://schemas.microsoft.com/office/drawing/2014/main" id="{FEE5AB57-5C97-3F4D-DF10-7F5DFBA04160}"/>
              </a:ext>
            </a:extLst>
          </p:cNvPr>
          <p:cNvSpPr>
            <a:spLocks noGrp="1"/>
          </p:cNvSpPr>
          <p:nvPr>
            <p:ph idx="1"/>
          </p:nvPr>
        </p:nvSpPr>
        <p:spPr>
          <a:xfrm>
            <a:off x="758434" y="1816566"/>
            <a:ext cx="9911711" cy="1164893"/>
          </a:xfrm>
        </p:spPr>
        <p:txBody>
          <a:bodyPr anchor="ctr">
            <a:normAutofit lnSpcReduction="10000"/>
          </a:bodyPr>
          <a:lstStyle/>
          <a:p>
            <a:r>
              <a:rPr lang="en-US" sz="2200" dirty="0"/>
              <a:t>Davidson and Knox have major increases in overdose deaths possible due to the population</a:t>
            </a:r>
          </a:p>
          <a:p>
            <a:r>
              <a:rPr lang="en-US" sz="2200" dirty="0"/>
              <a:t>Shelby however seem to buck that trend with downward trend in overdose deaths</a:t>
            </a:r>
          </a:p>
        </p:txBody>
      </p:sp>
      <p:pic>
        <p:nvPicPr>
          <p:cNvPr id="5" name="Content Placeholder 4" descr="A map of the state of montana&#10;&#10;AI-generated content may be incorrect.">
            <a:extLst>
              <a:ext uri="{FF2B5EF4-FFF2-40B4-BE49-F238E27FC236}">
                <a16:creationId xmlns:a16="http://schemas.microsoft.com/office/drawing/2014/main" id="{74A46509-EE8C-B49D-7F52-8726A98228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0935" y="3058381"/>
            <a:ext cx="10917936" cy="3138910"/>
          </a:xfrm>
          <a:prstGeom prst="rect">
            <a:avLst/>
          </a:prstGeom>
        </p:spPr>
      </p:pic>
    </p:spTree>
    <p:extLst>
      <p:ext uri="{BB962C8B-B14F-4D97-AF65-F5344CB8AC3E}">
        <p14:creationId xmlns:p14="http://schemas.microsoft.com/office/powerpoint/2010/main" val="3272564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3BA5F-183A-4678-712E-FC3CC5DAFE20}"/>
              </a:ext>
            </a:extLst>
          </p:cNvPr>
          <p:cNvSpPr>
            <a:spLocks noGrp="1"/>
          </p:cNvSpPr>
          <p:nvPr>
            <p:ph type="title"/>
          </p:nvPr>
        </p:nvSpPr>
        <p:spPr/>
        <p:txBody>
          <a:bodyPr/>
          <a:lstStyle/>
          <a:p>
            <a:r>
              <a:rPr lang="en-US" dirty="0"/>
              <a:t>Spending on Opioids</a:t>
            </a:r>
          </a:p>
        </p:txBody>
      </p:sp>
      <p:sp>
        <p:nvSpPr>
          <p:cNvPr id="3" name="Content Placeholder 2">
            <a:extLst>
              <a:ext uri="{FF2B5EF4-FFF2-40B4-BE49-F238E27FC236}">
                <a16:creationId xmlns:a16="http://schemas.microsoft.com/office/drawing/2014/main" id="{BA139E6E-E7FC-6CF5-77AF-6179E6B7534F}"/>
              </a:ext>
            </a:extLst>
          </p:cNvPr>
          <p:cNvSpPr>
            <a:spLocks noGrp="1"/>
          </p:cNvSpPr>
          <p:nvPr>
            <p:ph idx="1"/>
          </p:nvPr>
        </p:nvSpPr>
        <p:spPr/>
        <p:txBody>
          <a:bodyPr/>
          <a:lstStyle/>
          <a:p>
            <a:r>
              <a:rPr lang="en-US" dirty="0"/>
              <a:t>Next we looked at how the amount spent on opioids related to overdose deaths, both in strict numbers and as compared to non-opioid prescription spending.</a:t>
            </a:r>
          </a:p>
          <a:p>
            <a:r>
              <a:rPr lang="en-US" dirty="0"/>
              <a:t>To normalize the available data, we compared annual averages per capita across the counties of Tennessee. </a:t>
            </a:r>
          </a:p>
          <a:p>
            <a:pPr marL="0" indent="0">
              <a:buNone/>
            </a:pPr>
            <a:endParaRPr lang="en-US" dirty="0"/>
          </a:p>
        </p:txBody>
      </p:sp>
    </p:spTree>
    <p:extLst>
      <p:ext uri="{BB962C8B-B14F-4D97-AF65-F5344CB8AC3E}">
        <p14:creationId xmlns:p14="http://schemas.microsoft.com/office/powerpoint/2010/main" val="31048520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7EB6D6-67BD-B2FE-72F8-D0C2FE47B41A}"/>
              </a:ext>
            </a:extLst>
          </p:cNvPr>
          <p:cNvSpPr>
            <a:spLocks noGrp="1"/>
          </p:cNvSpPr>
          <p:nvPr>
            <p:ph type="title"/>
          </p:nvPr>
        </p:nvSpPr>
        <p:spPr/>
        <p:txBody>
          <a:bodyPr>
            <a:normAutofit/>
          </a:bodyPr>
          <a:lstStyle/>
          <a:p>
            <a:r>
              <a:rPr lang="en-US" sz="4000" dirty="0"/>
              <a:t>Death rates vary within narrow band of spending</a:t>
            </a:r>
          </a:p>
        </p:txBody>
      </p:sp>
      <p:sp>
        <p:nvSpPr>
          <p:cNvPr id="4" name="Content Placeholder 2">
            <a:extLst>
              <a:ext uri="{FF2B5EF4-FFF2-40B4-BE49-F238E27FC236}">
                <a16:creationId xmlns:a16="http://schemas.microsoft.com/office/drawing/2014/main" id="{5B1B1C87-DFA7-EEDB-9E49-6EECADBEB1EB}"/>
              </a:ext>
            </a:extLst>
          </p:cNvPr>
          <p:cNvSpPr>
            <a:spLocks noGrp="1"/>
          </p:cNvSpPr>
          <p:nvPr>
            <p:ph idx="1"/>
          </p:nvPr>
        </p:nvSpPr>
        <p:spPr>
          <a:xfrm>
            <a:off x="7061703" y="2336873"/>
            <a:ext cx="4449975" cy="3599316"/>
          </a:xfrm>
        </p:spPr>
        <p:txBody>
          <a:bodyPr/>
          <a:lstStyle/>
          <a:p>
            <a:r>
              <a:rPr lang="en-US" dirty="0"/>
              <a:t>Most Tennessee counties spend, on average, less than $10 per resident on opioid prescriptions each year, but average annual overdose death rates per hundred thousand range from zero to over 40.</a:t>
            </a:r>
          </a:p>
        </p:txBody>
      </p:sp>
      <p:pic>
        <p:nvPicPr>
          <p:cNvPr id="5" name="Picture 4" descr="A graph showing the amount of blood in the blood&#10;&#10;AI-generated content may be incorrect.">
            <a:extLst>
              <a:ext uri="{FF2B5EF4-FFF2-40B4-BE49-F238E27FC236}">
                <a16:creationId xmlns:a16="http://schemas.microsoft.com/office/drawing/2014/main" id="{FDF1299F-A601-9744-93FA-00EE149A61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0252" y="2213791"/>
            <a:ext cx="6547117" cy="4105664"/>
          </a:xfrm>
          <a:prstGeom prst="rect">
            <a:avLst/>
          </a:prstGeom>
        </p:spPr>
      </p:pic>
    </p:spTree>
    <p:extLst>
      <p:ext uri="{BB962C8B-B14F-4D97-AF65-F5344CB8AC3E}">
        <p14:creationId xmlns:p14="http://schemas.microsoft.com/office/powerpoint/2010/main" val="3857140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9AFCA-CA50-D465-23A8-040F4AEA7FB3}"/>
              </a:ext>
            </a:extLst>
          </p:cNvPr>
          <p:cNvSpPr>
            <a:spLocks noGrp="1"/>
          </p:cNvSpPr>
          <p:nvPr>
            <p:ph type="title"/>
          </p:nvPr>
        </p:nvSpPr>
        <p:spPr/>
        <p:txBody>
          <a:bodyPr>
            <a:normAutofit/>
          </a:bodyPr>
          <a:lstStyle/>
          <a:p>
            <a:r>
              <a:rPr lang="en-US" sz="4400" dirty="0"/>
              <a:t>Percent of prescription spending on opioids</a:t>
            </a:r>
          </a:p>
        </p:txBody>
      </p:sp>
      <p:sp>
        <p:nvSpPr>
          <p:cNvPr id="4" name="Content Placeholder 2">
            <a:extLst>
              <a:ext uri="{FF2B5EF4-FFF2-40B4-BE49-F238E27FC236}">
                <a16:creationId xmlns:a16="http://schemas.microsoft.com/office/drawing/2014/main" id="{E531EB6C-78DA-EC5C-FCBB-8470A1ECBC2F}"/>
              </a:ext>
            </a:extLst>
          </p:cNvPr>
          <p:cNvSpPr>
            <a:spLocks noGrp="1"/>
          </p:cNvSpPr>
          <p:nvPr>
            <p:ph idx="1"/>
          </p:nvPr>
        </p:nvSpPr>
        <p:spPr>
          <a:xfrm>
            <a:off x="7841673" y="2336873"/>
            <a:ext cx="3971636" cy="3599316"/>
          </a:xfrm>
        </p:spPr>
        <p:txBody>
          <a:bodyPr>
            <a:normAutofit/>
          </a:bodyPr>
          <a:lstStyle/>
          <a:p>
            <a:r>
              <a:rPr lang="en-US" dirty="0"/>
              <a:t>For over 75% of Tennessee counties, less than 6% of prescription drug costs go to opioids.  But for Clay, Coffee, and Montgomery counties, that number is over 8%, and in Benton 18.7% of prescription costs are for opioids.</a:t>
            </a:r>
          </a:p>
        </p:txBody>
      </p:sp>
      <p:pic>
        <p:nvPicPr>
          <p:cNvPr id="5" name="Picture 4">
            <a:extLst>
              <a:ext uri="{FF2B5EF4-FFF2-40B4-BE49-F238E27FC236}">
                <a16:creationId xmlns:a16="http://schemas.microsoft.com/office/drawing/2014/main" id="{76947A54-9738-CBA3-8A79-42D503291A92}"/>
              </a:ext>
            </a:extLst>
          </p:cNvPr>
          <p:cNvPicPr>
            <a:picLocks noChangeAspect="1"/>
          </p:cNvPicPr>
          <p:nvPr/>
        </p:nvPicPr>
        <p:blipFill>
          <a:blip r:embed="rId2"/>
          <a:stretch>
            <a:fillRect/>
          </a:stretch>
        </p:blipFill>
        <p:spPr>
          <a:xfrm>
            <a:off x="292394" y="2170618"/>
            <a:ext cx="7327606" cy="3081571"/>
          </a:xfrm>
          <a:prstGeom prst="rect">
            <a:avLst/>
          </a:prstGeom>
        </p:spPr>
      </p:pic>
    </p:spTree>
    <p:extLst>
      <p:ext uri="{BB962C8B-B14F-4D97-AF65-F5344CB8AC3E}">
        <p14:creationId xmlns:p14="http://schemas.microsoft.com/office/powerpoint/2010/main" val="24714133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FE4A6-6C7E-E486-A3CB-31BA6A594B78}"/>
              </a:ext>
            </a:extLst>
          </p:cNvPr>
          <p:cNvSpPr>
            <a:spLocks noGrp="1"/>
          </p:cNvSpPr>
          <p:nvPr>
            <p:ph type="title"/>
          </p:nvPr>
        </p:nvSpPr>
        <p:spPr/>
        <p:txBody>
          <a:bodyPr>
            <a:normAutofit/>
          </a:bodyPr>
          <a:lstStyle/>
          <a:p>
            <a:r>
              <a:rPr lang="en-US" sz="4000" dirty="0"/>
              <a:t>Increased proportion of opioid spending not related to death rate</a:t>
            </a:r>
          </a:p>
        </p:txBody>
      </p:sp>
      <p:sp>
        <p:nvSpPr>
          <p:cNvPr id="4" name="Content Placeholder 2">
            <a:extLst>
              <a:ext uri="{FF2B5EF4-FFF2-40B4-BE49-F238E27FC236}">
                <a16:creationId xmlns:a16="http://schemas.microsoft.com/office/drawing/2014/main" id="{4C424EFC-6D0D-6AF4-D415-587189222712}"/>
              </a:ext>
            </a:extLst>
          </p:cNvPr>
          <p:cNvSpPr>
            <a:spLocks noGrp="1"/>
          </p:cNvSpPr>
          <p:nvPr>
            <p:ph idx="1"/>
          </p:nvPr>
        </p:nvSpPr>
        <p:spPr>
          <a:xfrm>
            <a:off x="7952509" y="2336873"/>
            <a:ext cx="3768436" cy="3599316"/>
          </a:xfrm>
        </p:spPr>
        <p:txBody>
          <a:bodyPr/>
          <a:lstStyle/>
          <a:p>
            <a:r>
              <a:rPr lang="en-US" dirty="0"/>
              <a:t>The percentage of prescription costs spent on opioids has no strong correlation with the overdose death rate across Tennessee counties, with a correlation coefficient of 0.054.</a:t>
            </a:r>
          </a:p>
        </p:txBody>
      </p:sp>
      <p:pic>
        <p:nvPicPr>
          <p:cNvPr id="5" name="Picture 4" descr="A graph showing numbers and percentages of prescriptions&#10;&#10;AI-generated content may be incorrect.">
            <a:extLst>
              <a:ext uri="{FF2B5EF4-FFF2-40B4-BE49-F238E27FC236}">
                <a16:creationId xmlns:a16="http://schemas.microsoft.com/office/drawing/2014/main" id="{C5E2F61E-894E-2EB2-9BFF-9EE37592F2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176" y="2279723"/>
            <a:ext cx="7342647" cy="4105664"/>
          </a:xfrm>
          <a:prstGeom prst="rect">
            <a:avLst/>
          </a:prstGeom>
        </p:spPr>
      </p:pic>
    </p:spTree>
    <p:extLst>
      <p:ext uri="{BB962C8B-B14F-4D97-AF65-F5344CB8AC3E}">
        <p14:creationId xmlns:p14="http://schemas.microsoft.com/office/powerpoint/2010/main" val="1658246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51A9C-7C01-0CF1-9D4E-87ED6F8FADC4}"/>
              </a:ext>
            </a:extLst>
          </p:cNvPr>
          <p:cNvSpPr>
            <a:spLocks noGrp="1"/>
          </p:cNvSpPr>
          <p:nvPr>
            <p:ph type="title"/>
          </p:nvPr>
        </p:nvSpPr>
        <p:spPr/>
        <p:txBody>
          <a:bodyPr/>
          <a:lstStyle/>
          <a:p>
            <a:r>
              <a:rPr lang="en-US" dirty="0"/>
              <a:t>Overdose Deaths Per Capita</a:t>
            </a:r>
          </a:p>
        </p:txBody>
      </p:sp>
      <p:pic>
        <p:nvPicPr>
          <p:cNvPr id="4" name="Picture 3">
            <a:extLst>
              <a:ext uri="{FF2B5EF4-FFF2-40B4-BE49-F238E27FC236}">
                <a16:creationId xmlns:a16="http://schemas.microsoft.com/office/drawing/2014/main" id="{4C4D1696-15D2-2F91-B48F-6947D3E4D98D}"/>
              </a:ext>
            </a:extLst>
          </p:cNvPr>
          <p:cNvPicPr>
            <a:picLocks noChangeAspect="1"/>
          </p:cNvPicPr>
          <p:nvPr/>
        </p:nvPicPr>
        <p:blipFill>
          <a:blip r:embed="rId2"/>
          <a:srcRect l="1468" t="7927"/>
          <a:stretch>
            <a:fillRect/>
          </a:stretch>
        </p:blipFill>
        <p:spPr>
          <a:xfrm>
            <a:off x="4697050" y="2889086"/>
            <a:ext cx="7059052" cy="2856242"/>
          </a:xfrm>
          <a:prstGeom prst="rect">
            <a:avLst/>
          </a:prstGeom>
        </p:spPr>
      </p:pic>
      <p:sp>
        <p:nvSpPr>
          <p:cNvPr id="5" name="TextBox 5">
            <a:extLst>
              <a:ext uri="{FF2B5EF4-FFF2-40B4-BE49-F238E27FC236}">
                <a16:creationId xmlns:a16="http://schemas.microsoft.com/office/drawing/2014/main" id="{4A2FE268-7BF3-A1D4-42C5-C76A55CFFE5B}"/>
              </a:ext>
            </a:extLst>
          </p:cNvPr>
          <p:cNvSpPr txBox="1"/>
          <p:nvPr/>
        </p:nvSpPr>
        <p:spPr>
          <a:xfrm>
            <a:off x="956905" y="1891523"/>
            <a:ext cx="9419464" cy="769441"/>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defRPr sz="2200"/>
            </a:pPr>
            <a:r>
              <a:rPr lang="en-US" b="1" dirty="0"/>
              <a:t>Cheatham</a:t>
            </a:r>
            <a:r>
              <a:rPr lang="en-US" dirty="0"/>
              <a:t>  has the highest overdose death rate (</a:t>
            </a:r>
            <a:r>
              <a:rPr lang="en-US" b="1" dirty="0"/>
              <a:t>184</a:t>
            </a:r>
            <a:r>
              <a:rPr lang="en-US" dirty="0"/>
              <a:t> per 100000).</a:t>
            </a:r>
          </a:p>
          <a:p>
            <a:pPr marL="342900" indent="-342900">
              <a:buFont typeface="Arial" panose="020B0604020202020204" pitchFamily="34" charset="0"/>
              <a:buChar char="•"/>
              <a:defRPr sz="2200"/>
            </a:pPr>
            <a:r>
              <a:rPr lang="en-US" dirty="0"/>
              <a:t>Rural counties (Hancock, Clay, Roane) also show higher deaths per capita      </a:t>
            </a:r>
          </a:p>
        </p:txBody>
      </p:sp>
      <p:pic>
        <p:nvPicPr>
          <p:cNvPr id="6" name="table">
            <a:extLst>
              <a:ext uri="{FF2B5EF4-FFF2-40B4-BE49-F238E27FC236}">
                <a16:creationId xmlns:a16="http://schemas.microsoft.com/office/drawing/2014/main" id="{0D72DB4B-E790-D8D5-EA92-F463B5B6A5F9}"/>
              </a:ext>
            </a:extLst>
          </p:cNvPr>
          <p:cNvPicPr>
            <a:picLocks noChangeAspect="1"/>
          </p:cNvPicPr>
          <p:nvPr/>
        </p:nvPicPr>
        <p:blipFill>
          <a:blip r:embed="rId3"/>
          <a:stretch>
            <a:fillRect/>
          </a:stretch>
        </p:blipFill>
        <p:spPr>
          <a:xfrm>
            <a:off x="992841" y="2963045"/>
            <a:ext cx="3466214" cy="2234196"/>
          </a:xfrm>
          <a:prstGeom prst="rect">
            <a:avLst/>
          </a:prstGeom>
        </p:spPr>
      </p:pic>
    </p:spTree>
    <p:extLst>
      <p:ext uri="{BB962C8B-B14F-4D97-AF65-F5344CB8AC3E}">
        <p14:creationId xmlns:p14="http://schemas.microsoft.com/office/powerpoint/2010/main" val="16242244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AE09E-C940-2027-0667-0976FDF15CF2}"/>
              </a:ext>
            </a:extLst>
          </p:cNvPr>
          <p:cNvSpPr>
            <a:spLocks noGrp="1"/>
          </p:cNvSpPr>
          <p:nvPr>
            <p:ph type="title"/>
          </p:nvPr>
        </p:nvSpPr>
        <p:spPr/>
        <p:txBody>
          <a:bodyPr/>
          <a:lstStyle/>
          <a:p>
            <a:r>
              <a:rPr lang="en-US" dirty="0"/>
              <a:t>Spending Overall Per Capita</a:t>
            </a:r>
          </a:p>
        </p:txBody>
      </p:sp>
      <p:pic>
        <p:nvPicPr>
          <p:cNvPr id="4" name="Picture 3">
            <a:extLst>
              <a:ext uri="{FF2B5EF4-FFF2-40B4-BE49-F238E27FC236}">
                <a16:creationId xmlns:a16="http://schemas.microsoft.com/office/drawing/2014/main" id="{8D75F5B1-00C7-7CCF-CA62-166EF198F83A}"/>
              </a:ext>
            </a:extLst>
          </p:cNvPr>
          <p:cNvPicPr>
            <a:picLocks noChangeAspect="1"/>
          </p:cNvPicPr>
          <p:nvPr/>
        </p:nvPicPr>
        <p:blipFill>
          <a:blip r:embed="rId2"/>
          <a:srcRect t="7910"/>
          <a:stretch>
            <a:fillRect/>
          </a:stretch>
        </p:blipFill>
        <p:spPr>
          <a:xfrm>
            <a:off x="5289583" y="2971865"/>
            <a:ext cx="6253017" cy="3287267"/>
          </a:xfrm>
          <a:prstGeom prst="rect">
            <a:avLst/>
          </a:prstGeom>
        </p:spPr>
      </p:pic>
      <p:sp>
        <p:nvSpPr>
          <p:cNvPr id="5" name="TextBox 4">
            <a:extLst>
              <a:ext uri="{FF2B5EF4-FFF2-40B4-BE49-F238E27FC236}">
                <a16:creationId xmlns:a16="http://schemas.microsoft.com/office/drawing/2014/main" id="{D9D62737-832F-A45E-78D7-540C8F2156E6}"/>
              </a:ext>
            </a:extLst>
          </p:cNvPr>
          <p:cNvSpPr txBox="1"/>
          <p:nvPr/>
        </p:nvSpPr>
        <p:spPr>
          <a:xfrm>
            <a:off x="975198" y="1800614"/>
            <a:ext cx="8756140" cy="1107996"/>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defRPr sz="2200"/>
            </a:pPr>
            <a:r>
              <a:rPr lang="en-US" b="1" dirty="0"/>
              <a:t>Moore</a:t>
            </a:r>
            <a:r>
              <a:rPr lang="en-US" dirty="0"/>
              <a:t> leads with $6,488 per person in drug spending.</a:t>
            </a:r>
          </a:p>
          <a:p>
            <a:pPr marL="342900" indent="-342900">
              <a:buFont typeface="Arial" panose="020B0604020202020204" pitchFamily="34" charset="0"/>
              <a:buChar char="•"/>
              <a:defRPr sz="2200"/>
            </a:pPr>
            <a:r>
              <a:rPr lang="en-US" dirty="0"/>
              <a:t>High spending concentrated more in small rural counties.</a:t>
            </a:r>
          </a:p>
          <a:p>
            <a:pPr marL="342900" indent="-342900">
              <a:buFont typeface="Arial" panose="020B0604020202020204" pitchFamily="34" charset="0"/>
              <a:buChar char="•"/>
              <a:defRPr sz="2200"/>
            </a:pPr>
            <a:r>
              <a:rPr lang="en-US" dirty="0"/>
              <a:t>Spending does not correlate with population size.</a:t>
            </a:r>
          </a:p>
        </p:txBody>
      </p:sp>
      <p:pic>
        <p:nvPicPr>
          <p:cNvPr id="6" name="table">
            <a:extLst>
              <a:ext uri="{FF2B5EF4-FFF2-40B4-BE49-F238E27FC236}">
                <a16:creationId xmlns:a16="http://schemas.microsoft.com/office/drawing/2014/main" id="{149ED679-A43E-34C4-010A-76E3820BB4F4}"/>
              </a:ext>
            </a:extLst>
          </p:cNvPr>
          <p:cNvPicPr>
            <a:picLocks noChangeAspect="1"/>
          </p:cNvPicPr>
          <p:nvPr/>
        </p:nvPicPr>
        <p:blipFill>
          <a:blip r:embed="rId3"/>
          <a:stretch>
            <a:fillRect/>
          </a:stretch>
        </p:blipFill>
        <p:spPr>
          <a:xfrm>
            <a:off x="810787" y="3338913"/>
            <a:ext cx="3519054" cy="2255097"/>
          </a:xfrm>
          <a:prstGeom prst="rect">
            <a:avLst/>
          </a:prstGeom>
        </p:spPr>
      </p:pic>
    </p:spTree>
    <p:extLst>
      <p:ext uri="{BB962C8B-B14F-4D97-AF65-F5344CB8AC3E}">
        <p14:creationId xmlns:p14="http://schemas.microsoft.com/office/powerpoint/2010/main" val="27787006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2F134-DD44-EB79-40EB-C290C08DCF76}"/>
              </a:ext>
            </a:extLst>
          </p:cNvPr>
          <p:cNvSpPr>
            <a:spLocks noGrp="1"/>
          </p:cNvSpPr>
          <p:nvPr>
            <p:ph type="title"/>
          </p:nvPr>
        </p:nvSpPr>
        <p:spPr/>
        <p:txBody>
          <a:bodyPr/>
          <a:lstStyle/>
          <a:p>
            <a:r>
              <a:rPr lang="en-US" dirty="0"/>
              <a:t>Opioid Spending Per Capita</a:t>
            </a:r>
          </a:p>
        </p:txBody>
      </p:sp>
      <p:pic>
        <p:nvPicPr>
          <p:cNvPr id="4" name="Picture 3">
            <a:extLst>
              <a:ext uri="{FF2B5EF4-FFF2-40B4-BE49-F238E27FC236}">
                <a16:creationId xmlns:a16="http://schemas.microsoft.com/office/drawing/2014/main" id="{FCE9EDDC-BD06-5C5B-85A3-0BEDE3382181}"/>
              </a:ext>
            </a:extLst>
          </p:cNvPr>
          <p:cNvPicPr>
            <a:picLocks noChangeAspect="1"/>
          </p:cNvPicPr>
          <p:nvPr/>
        </p:nvPicPr>
        <p:blipFill>
          <a:blip r:embed="rId2"/>
          <a:srcRect l="1577" t="7738" r="400"/>
          <a:stretch>
            <a:fillRect/>
          </a:stretch>
        </p:blipFill>
        <p:spPr>
          <a:xfrm>
            <a:off x="5384503" y="3279222"/>
            <a:ext cx="6096000" cy="2902436"/>
          </a:xfrm>
          <a:prstGeom prst="rect">
            <a:avLst/>
          </a:prstGeom>
        </p:spPr>
      </p:pic>
      <p:sp>
        <p:nvSpPr>
          <p:cNvPr id="5" name="TextBox 4">
            <a:extLst>
              <a:ext uri="{FF2B5EF4-FFF2-40B4-BE49-F238E27FC236}">
                <a16:creationId xmlns:a16="http://schemas.microsoft.com/office/drawing/2014/main" id="{D79E3EE2-9903-1319-7680-7C85B6D27B69}"/>
              </a:ext>
            </a:extLst>
          </p:cNvPr>
          <p:cNvSpPr txBox="1"/>
          <p:nvPr/>
        </p:nvSpPr>
        <p:spPr>
          <a:xfrm>
            <a:off x="1033945" y="1814834"/>
            <a:ext cx="9948036" cy="1446550"/>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defRPr sz="2200"/>
            </a:pPr>
            <a:r>
              <a:rPr lang="en-US" b="1" dirty="0"/>
              <a:t>Moore</a:t>
            </a:r>
            <a:r>
              <a:rPr lang="en-US" dirty="0"/>
              <a:t>  leads $311 per person</a:t>
            </a:r>
          </a:p>
          <a:p>
            <a:pPr marL="342900" indent="-342900">
              <a:buFont typeface="Arial" panose="020B0604020202020204" pitchFamily="34" charset="0"/>
              <a:buChar char="•"/>
              <a:defRPr sz="2200"/>
            </a:pPr>
            <a:r>
              <a:rPr lang="en-US" dirty="0"/>
              <a:t>High opioid spend overlaps with high total spend counties.</a:t>
            </a:r>
          </a:p>
          <a:p>
            <a:pPr marL="342900" indent="-342900">
              <a:buFont typeface="Arial" panose="020B0604020202020204" pitchFamily="34" charset="0"/>
              <a:buChar char="•"/>
              <a:defRPr sz="2200"/>
            </a:pPr>
            <a:r>
              <a:rPr lang="en-US" dirty="0"/>
              <a:t>Systemic prescribing patterns, not isolated cases.</a:t>
            </a:r>
          </a:p>
          <a:p>
            <a:pPr marL="342900" indent="-342900">
              <a:buFont typeface="Arial" panose="020B0604020202020204" pitchFamily="34" charset="0"/>
              <a:buChar char="•"/>
              <a:defRPr sz="2200"/>
            </a:pPr>
            <a:r>
              <a:rPr lang="en-US" dirty="0"/>
              <a:t>Jackson, Trousdale, Overton show elevated levels.</a:t>
            </a:r>
          </a:p>
        </p:txBody>
      </p:sp>
      <p:pic>
        <p:nvPicPr>
          <p:cNvPr id="6" name="table">
            <a:extLst>
              <a:ext uri="{FF2B5EF4-FFF2-40B4-BE49-F238E27FC236}">
                <a16:creationId xmlns:a16="http://schemas.microsoft.com/office/drawing/2014/main" id="{3902CFC9-9EB7-1F29-0E39-DA95FCA5BD63}"/>
              </a:ext>
            </a:extLst>
          </p:cNvPr>
          <p:cNvPicPr>
            <a:picLocks noChangeAspect="1"/>
          </p:cNvPicPr>
          <p:nvPr/>
        </p:nvPicPr>
        <p:blipFill>
          <a:blip r:embed="rId3"/>
          <a:stretch>
            <a:fillRect/>
          </a:stretch>
        </p:blipFill>
        <p:spPr>
          <a:xfrm>
            <a:off x="1269552" y="3338859"/>
            <a:ext cx="3362035" cy="2462213"/>
          </a:xfrm>
          <a:prstGeom prst="rect">
            <a:avLst/>
          </a:prstGeom>
        </p:spPr>
      </p:pic>
    </p:spTree>
    <p:extLst>
      <p:ext uri="{BB962C8B-B14F-4D97-AF65-F5344CB8AC3E}">
        <p14:creationId xmlns:p14="http://schemas.microsoft.com/office/powerpoint/2010/main" val="33487815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6E582-B546-D7AC-3206-374F982EFEA5}"/>
              </a:ext>
            </a:extLst>
          </p:cNvPr>
          <p:cNvSpPr>
            <a:spLocks noGrp="1"/>
          </p:cNvSpPr>
          <p:nvPr>
            <p:ph type="title"/>
          </p:nvPr>
        </p:nvSpPr>
        <p:spPr>
          <a:xfrm>
            <a:off x="630936" y="502920"/>
            <a:ext cx="3419856" cy="1463040"/>
          </a:xfrm>
        </p:spPr>
        <p:txBody>
          <a:bodyPr anchor="ctr">
            <a:normAutofit/>
          </a:bodyPr>
          <a:lstStyle/>
          <a:p>
            <a:r>
              <a:rPr lang="en-US" sz="3700" dirty="0"/>
              <a:t>Unemployment</a:t>
            </a:r>
          </a:p>
        </p:txBody>
      </p:sp>
      <p:sp>
        <p:nvSpPr>
          <p:cNvPr id="13" name="Content Placeholder 12">
            <a:extLst>
              <a:ext uri="{FF2B5EF4-FFF2-40B4-BE49-F238E27FC236}">
                <a16:creationId xmlns:a16="http://schemas.microsoft.com/office/drawing/2014/main" id="{BEBCC0F4-199F-6FCD-83B1-0E7AC97ABC2A}"/>
              </a:ext>
            </a:extLst>
          </p:cNvPr>
          <p:cNvSpPr>
            <a:spLocks noGrp="1"/>
          </p:cNvSpPr>
          <p:nvPr>
            <p:ph idx="1"/>
          </p:nvPr>
        </p:nvSpPr>
        <p:spPr>
          <a:xfrm>
            <a:off x="1043297" y="1913790"/>
            <a:ext cx="10093214" cy="938881"/>
          </a:xfrm>
        </p:spPr>
        <p:txBody>
          <a:bodyPr anchor="t">
            <a:normAutofit/>
          </a:bodyPr>
          <a:lstStyle/>
          <a:p>
            <a:r>
              <a:rPr lang="en-US" sz="2200" dirty="0"/>
              <a:t>The unemployment rate has been going down but the number of deaths has not</a:t>
            </a:r>
          </a:p>
        </p:txBody>
      </p:sp>
      <p:pic>
        <p:nvPicPr>
          <p:cNvPr id="9" name="Content Placeholder 8" descr="A graph of a number of dots&#10;&#10;AI-generated content may be incorrect.">
            <a:extLst>
              <a:ext uri="{FF2B5EF4-FFF2-40B4-BE49-F238E27FC236}">
                <a16:creationId xmlns:a16="http://schemas.microsoft.com/office/drawing/2014/main" id="{AE8E519D-67A7-E9C1-831D-FFA9C724DA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0936" y="3001400"/>
            <a:ext cx="10917936" cy="2538424"/>
          </a:xfrm>
          <a:prstGeom prst="rect">
            <a:avLst/>
          </a:prstGeom>
        </p:spPr>
      </p:pic>
    </p:spTree>
    <p:extLst>
      <p:ext uri="{BB962C8B-B14F-4D97-AF65-F5344CB8AC3E}">
        <p14:creationId xmlns:p14="http://schemas.microsoft.com/office/powerpoint/2010/main" val="37028521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A9EB2-A3F6-7F13-E8BF-0E2B8B691651}"/>
              </a:ext>
            </a:extLst>
          </p:cNvPr>
          <p:cNvSpPr>
            <a:spLocks noGrp="1"/>
          </p:cNvSpPr>
          <p:nvPr>
            <p:ph type="title"/>
          </p:nvPr>
        </p:nvSpPr>
        <p:spPr>
          <a:xfrm>
            <a:off x="630936" y="639520"/>
            <a:ext cx="3429000" cy="1079810"/>
          </a:xfrm>
        </p:spPr>
        <p:txBody>
          <a:bodyPr vert="horz" lIns="91440" tIns="45720" rIns="91440" bIns="45720" rtlCol="0" anchor="b">
            <a:normAutofit/>
          </a:bodyPr>
          <a:lstStyle/>
          <a:p>
            <a:r>
              <a:rPr lang="en-US" sz="3800" kern="1200" dirty="0">
                <a:solidFill>
                  <a:schemeClr val="tx1"/>
                </a:solidFill>
                <a:latin typeface="+mj-lt"/>
                <a:ea typeface="+mj-ea"/>
                <a:cs typeface="+mj-cs"/>
              </a:rPr>
              <a:t>Unemployment</a:t>
            </a:r>
          </a:p>
        </p:txBody>
      </p:sp>
      <p:sp>
        <p:nvSpPr>
          <p:cNvPr id="3" name="Content Placeholder 2">
            <a:extLst>
              <a:ext uri="{FF2B5EF4-FFF2-40B4-BE49-F238E27FC236}">
                <a16:creationId xmlns:a16="http://schemas.microsoft.com/office/drawing/2014/main" id="{480E7C73-12AB-CBF9-82EC-90B65C3A6AD9}"/>
              </a:ext>
            </a:extLst>
          </p:cNvPr>
          <p:cNvSpPr>
            <a:spLocks noGrp="1"/>
          </p:cNvSpPr>
          <p:nvPr>
            <p:ph sz="half" idx="1"/>
          </p:nvPr>
        </p:nvSpPr>
        <p:spPr>
          <a:xfrm>
            <a:off x="630936" y="2807208"/>
            <a:ext cx="3429000" cy="3410712"/>
          </a:xfrm>
        </p:spPr>
        <p:txBody>
          <a:bodyPr vert="horz" lIns="91440" tIns="45720" rIns="91440" bIns="45720" rtlCol="0" anchor="t">
            <a:normAutofit/>
          </a:bodyPr>
          <a:lstStyle/>
          <a:p>
            <a:r>
              <a:rPr lang="en-US" sz="2400" dirty="0"/>
              <a:t>Unemployment does not impact the cost of </a:t>
            </a:r>
            <a:r>
              <a:rPr lang="en-US" sz="2400"/>
              <a:t>Opiods</a:t>
            </a:r>
            <a:endParaRPr lang="en-US" sz="2200"/>
          </a:p>
        </p:txBody>
      </p:sp>
      <p:pic>
        <p:nvPicPr>
          <p:cNvPr id="6" name="Content Placeholder 5" descr="A graph showing the cost of unemployment&#10;&#10;AI-generated content may be incorrect.">
            <a:extLst>
              <a:ext uri="{FF2B5EF4-FFF2-40B4-BE49-F238E27FC236}">
                <a16:creationId xmlns:a16="http://schemas.microsoft.com/office/drawing/2014/main" id="{90F493B1-5FB2-054A-4F38-E104246D6E5C}"/>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4654296" y="1202548"/>
            <a:ext cx="6903720" cy="4452903"/>
          </a:xfrm>
          <a:prstGeom prst="rect">
            <a:avLst/>
          </a:prstGeom>
        </p:spPr>
      </p:pic>
    </p:spTree>
    <p:extLst>
      <p:ext uri="{BB962C8B-B14F-4D97-AF65-F5344CB8AC3E}">
        <p14:creationId xmlns:p14="http://schemas.microsoft.com/office/powerpoint/2010/main" val="17101682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F1BB2-86D2-0D3C-8809-CB76BAECFFD1}"/>
              </a:ext>
            </a:extLst>
          </p:cNvPr>
          <p:cNvSpPr>
            <a:spLocks noGrp="1"/>
          </p:cNvSpPr>
          <p:nvPr>
            <p:ph type="title"/>
          </p:nvPr>
        </p:nvSpPr>
        <p:spPr/>
        <p:txBody>
          <a:bodyPr/>
          <a:lstStyle/>
          <a:p>
            <a:r>
              <a:rPr lang="en-US" dirty="0"/>
              <a:t>Top Prescribers of Opioids</a:t>
            </a:r>
          </a:p>
        </p:txBody>
      </p:sp>
      <p:sp>
        <p:nvSpPr>
          <p:cNvPr id="5" name="Content Placeholder 2">
            <a:extLst>
              <a:ext uri="{FF2B5EF4-FFF2-40B4-BE49-F238E27FC236}">
                <a16:creationId xmlns:a16="http://schemas.microsoft.com/office/drawing/2014/main" id="{55B025D3-4CDA-3E07-DF96-39B9058ECC31}"/>
              </a:ext>
            </a:extLst>
          </p:cNvPr>
          <p:cNvSpPr>
            <a:spLocks noGrp="1"/>
          </p:cNvSpPr>
          <p:nvPr>
            <p:ph sz="half" idx="1"/>
          </p:nvPr>
        </p:nvSpPr>
        <p:spPr>
          <a:xfrm>
            <a:off x="751155" y="5120640"/>
            <a:ext cx="9613861" cy="1162051"/>
          </a:xfrm>
        </p:spPr>
        <p:txBody>
          <a:bodyPr>
            <a:normAutofit/>
          </a:bodyPr>
          <a:lstStyle/>
          <a:p>
            <a:r>
              <a:rPr lang="en-US" dirty="0"/>
              <a:t>The top ten prescribers of opioids, by number of claims, are scattered in the northeastern part of the state, but are particularly concentrated in the counties north of Knoxville.</a:t>
            </a:r>
          </a:p>
        </p:txBody>
      </p:sp>
      <p:pic>
        <p:nvPicPr>
          <p:cNvPr id="6" name="Picture 5" descr="A map of the state of pennsylvania&#10;&#10;AI-generated content may be incorrect.">
            <a:extLst>
              <a:ext uri="{FF2B5EF4-FFF2-40B4-BE49-F238E27FC236}">
                <a16:creationId xmlns:a16="http://schemas.microsoft.com/office/drawing/2014/main" id="{7B1DCBC8-682A-3B5C-38BF-F2CC86BE54EE}"/>
              </a:ext>
            </a:extLst>
          </p:cNvPr>
          <p:cNvPicPr>
            <a:picLocks noChangeAspect="1"/>
          </p:cNvPicPr>
          <p:nvPr/>
        </p:nvPicPr>
        <p:blipFill>
          <a:blip r:embed="rId2">
            <a:extLst>
              <a:ext uri="{28A0092B-C50C-407E-A947-70E740481C1C}">
                <a14:useLocalDpi xmlns:a14="http://schemas.microsoft.com/office/drawing/2010/main" val="0"/>
              </a:ext>
            </a:extLst>
          </a:blip>
          <a:srcRect l="3213"/>
          <a:stretch>
            <a:fillRect/>
          </a:stretch>
        </p:blipFill>
        <p:spPr>
          <a:xfrm>
            <a:off x="165399" y="1941103"/>
            <a:ext cx="11745292" cy="2975794"/>
          </a:xfrm>
          <a:prstGeom prst="rect">
            <a:avLst/>
          </a:prstGeom>
        </p:spPr>
      </p:pic>
    </p:spTree>
    <p:extLst>
      <p:ext uri="{BB962C8B-B14F-4D97-AF65-F5344CB8AC3E}">
        <p14:creationId xmlns:p14="http://schemas.microsoft.com/office/powerpoint/2010/main" val="31188614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9FA7FC-B449-E3D2-9AC5-C753E6F0AA45}"/>
              </a:ext>
            </a:extLst>
          </p:cNvPr>
          <p:cNvSpPr>
            <a:spLocks noGrp="1"/>
          </p:cNvSpPr>
          <p:nvPr>
            <p:ph type="title"/>
          </p:nvPr>
        </p:nvSpPr>
        <p:spPr/>
        <p:txBody>
          <a:bodyPr/>
          <a:lstStyle/>
          <a:p>
            <a:r>
              <a:rPr lang="en-US" dirty="0"/>
              <a:t>Top Prescribers of Opioids</a:t>
            </a:r>
          </a:p>
        </p:txBody>
      </p:sp>
      <p:sp>
        <p:nvSpPr>
          <p:cNvPr id="5" name="Content Placeholder 2">
            <a:extLst>
              <a:ext uri="{FF2B5EF4-FFF2-40B4-BE49-F238E27FC236}">
                <a16:creationId xmlns:a16="http://schemas.microsoft.com/office/drawing/2014/main" id="{C9DEE696-6460-5AC7-AA97-F8A928799F66}"/>
              </a:ext>
            </a:extLst>
          </p:cNvPr>
          <p:cNvSpPr>
            <a:spLocks noGrp="1"/>
          </p:cNvSpPr>
          <p:nvPr>
            <p:ph sz="half" idx="1"/>
          </p:nvPr>
        </p:nvSpPr>
        <p:spPr>
          <a:xfrm>
            <a:off x="5477164" y="2250851"/>
            <a:ext cx="6307656" cy="3685338"/>
          </a:xfrm>
        </p:spPr>
        <p:txBody>
          <a:bodyPr/>
          <a:lstStyle/>
          <a:p>
            <a:r>
              <a:rPr lang="en-US" dirty="0"/>
              <a:t>The top hundred prescribers by number of opioid claims account for 13.9% of all opioid claims in Tennessee, despite accounting for only 1% of physicians who prescribed opioids from 2013 – 2017.</a:t>
            </a:r>
          </a:p>
        </p:txBody>
      </p:sp>
      <p:pic>
        <p:nvPicPr>
          <p:cNvPr id="6" name="Picture 5">
            <a:extLst>
              <a:ext uri="{FF2B5EF4-FFF2-40B4-BE49-F238E27FC236}">
                <a16:creationId xmlns:a16="http://schemas.microsoft.com/office/drawing/2014/main" id="{69EBB8DB-81E6-755B-1B61-AA7933F7370B}"/>
              </a:ext>
            </a:extLst>
          </p:cNvPr>
          <p:cNvPicPr>
            <a:picLocks noChangeAspect="1"/>
          </p:cNvPicPr>
          <p:nvPr/>
        </p:nvPicPr>
        <p:blipFill>
          <a:blip r:embed="rId2"/>
          <a:stretch>
            <a:fillRect/>
          </a:stretch>
        </p:blipFill>
        <p:spPr>
          <a:xfrm>
            <a:off x="407180" y="2250851"/>
            <a:ext cx="4727457" cy="3557023"/>
          </a:xfrm>
          <a:prstGeom prst="rect">
            <a:avLst/>
          </a:prstGeom>
        </p:spPr>
      </p:pic>
    </p:spTree>
    <p:extLst>
      <p:ext uri="{BB962C8B-B14F-4D97-AF65-F5344CB8AC3E}">
        <p14:creationId xmlns:p14="http://schemas.microsoft.com/office/powerpoint/2010/main" val="585246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46AB0-4E50-7438-7DF0-AB7537CBE14C}"/>
              </a:ext>
            </a:extLst>
          </p:cNvPr>
          <p:cNvSpPr>
            <a:spLocks noGrp="1"/>
          </p:cNvSpPr>
          <p:nvPr>
            <p:ph type="title"/>
          </p:nvPr>
        </p:nvSpPr>
        <p:spPr/>
        <p:txBody>
          <a:bodyPr/>
          <a:lstStyle/>
          <a:p>
            <a:r>
              <a:rPr lang="en-US" dirty="0"/>
              <a:t>Davidson County</a:t>
            </a:r>
          </a:p>
        </p:txBody>
      </p:sp>
      <p:sp>
        <p:nvSpPr>
          <p:cNvPr id="5" name="TextBox 3">
            <a:extLst>
              <a:ext uri="{FF2B5EF4-FFF2-40B4-BE49-F238E27FC236}">
                <a16:creationId xmlns:a16="http://schemas.microsoft.com/office/drawing/2014/main" id="{FCE4C810-650D-F7D9-88B8-D106903F2108}"/>
              </a:ext>
            </a:extLst>
          </p:cNvPr>
          <p:cNvSpPr txBox="1"/>
          <p:nvPr/>
        </p:nvSpPr>
        <p:spPr>
          <a:xfrm>
            <a:off x="1097280" y="1932036"/>
            <a:ext cx="5178416" cy="46166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400" dirty="0"/>
              <a:t>Zip codes with most opioids prescribed</a:t>
            </a:r>
          </a:p>
        </p:txBody>
      </p:sp>
      <p:sp>
        <p:nvSpPr>
          <p:cNvPr id="6" name="TextBox 5">
            <a:extLst>
              <a:ext uri="{FF2B5EF4-FFF2-40B4-BE49-F238E27FC236}">
                <a16:creationId xmlns:a16="http://schemas.microsoft.com/office/drawing/2014/main" id="{AC815226-D496-F663-240D-7DE9DC3C23CF}"/>
              </a:ext>
            </a:extLst>
          </p:cNvPr>
          <p:cNvSpPr txBox="1"/>
          <p:nvPr/>
        </p:nvSpPr>
        <p:spPr>
          <a:xfrm>
            <a:off x="1919541" y="1399589"/>
            <a:ext cx="8880951"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sz="1600" dirty="0"/>
          </a:p>
          <a:p>
            <a:pPr>
              <a:defRPr sz="2200"/>
            </a:pPr>
            <a:endParaRPr lang="en-US" sz="1600" dirty="0"/>
          </a:p>
        </p:txBody>
      </p:sp>
      <p:pic>
        <p:nvPicPr>
          <p:cNvPr id="7" name="Picture 6">
            <a:extLst>
              <a:ext uri="{FF2B5EF4-FFF2-40B4-BE49-F238E27FC236}">
                <a16:creationId xmlns:a16="http://schemas.microsoft.com/office/drawing/2014/main" id="{5145814B-2D43-B272-48FB-939AB9E1ADD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600" t="5631" b="4221"/>
          <a:stretch>
            <a:fillRect/>
          </a:stretch>
        </p:blipFill>
        <p:spPr bwMode="auto">
          <a:xfrm>
            <a:off x="6100312" y="1984364"/>
            <a:ext cx="5055368" cy="4135909"/>
          </a:xfrm>
          <a:prstGeom prst="rect">
            <a:avLst/>
          </a:prstGeom>
          <a:noFill/>
          <a:extLst>
            <a:ext uri="{909E8E84-426E-40DD-AFC4-6F175D3DCCD1}">
              <a14:hiddenFill xmlns:a14="http://schemas.microsoft.com/office/drawing/2010/main">
                <a:solidFill>
                  <a:srgbClr val="FFFFFF"/>
                </a:solidFill>
              </a14:hiddenFill>
            </a:ext>
          </a:extLst>
        </p:spPr>
      </p:pic>
      <p:pic>
        <p:nvPicPr>
          <p:cNvPr id="8" name="table">
            <a:extLst>
              <a:ext uri="{FF2B5EF4-FFF2-40B4-BE49-F238E27FC236}">
                <a16:creationId xmlns:a16="http://schemas.microsoft.com/office/drawing/2014/main" id="{AD8581B0-DE2E-6782-E83F-FF3A61E59A8B}"/>
              </a:ext>
            </a:extLst>
          </p:cNvPr>
          <p:cNvPicPr>
            <a:picLocks noChangeAspect="1"/>
          </p:cNvPicPr>
          <p:nvPr/>
        </p:nvPicPr>
        <p:blipFill>
          <a:blip r:embed="rId3"/>
          <a:stretch>
            <a:fillRect/>
          </a:stretch>
        </p:blipFill>
        <p:spPr>
          <a:xfrm>
            <a:off x="1179974" y="2649032"/>
            <a:ext cx="2820394" cy="1903227"/>
          </a:xfrm>
          <a:prstGeom prst="rect">
            <a:avLst/>
          </a:prstGeom>
        </p:spPr>
      </p:pic>
    </p:spTree>
    <p:extLst>
      <p:ext uri="{BB962C8B-B14F-4D97-AF65-F5344CB8AC3E}">
        <p14:creationId xmlns:p14="http://schemas.microsoft.com/office/powerpoint/2010/main" val="37231114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4F9CA9-9127-122A-3F77-B8DED41F2B0D}"/>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14A732C7-D169-DCC2-B7C0-20A290AE46E8}"/>
              </a:ext>
            </a:extLst>
          </p:cNvPr>
          <p:cNvSpPr>
            <a:spLocks noGrp="1"/>
          </p:cNvSpPr>
          <p:nvPr>
            <p:ph idx="1"/>
          </p:nvPr>
        </p:nvSpPr>
        <p:spPr>
          <a:xfrm>
            <a:off x="1097280" y="1845734"/>
            <a:ext cx="10058400" cy="4097866"/>
          </a:xfrm>
        </p:spPr>
        <p:txBody>
          <a:bodyPr>
            <a:normAutofit lnSpcReduction="10000"/>
          </a:bodyPr>
          <a:lstStyle/>
          <a:p>
            <a:pPr marL="0" indent="0">
              <a:buNone/>
            </a:pPr>
            <a:r>
              <a:rPr lang="en-US" dirty="0"/>
              <a:t>Because the prescription claim data was only available as an aggregate over the 2013 – 2017 period, analysis of changes in trends over time was not possible.  A more granular data set would allow for greater awareness of trends.</a:t>
            </a:r>
          </a:p>
          <a:p>
            <a:pPr marL="0" indent="0">
              <a:buNone/>
            </a:pPr>
            <a:r>
              <a:rPr lang="en-US" dirty="0"/>
              <a:t>Additionally, prescriber addresses were tied to their specific zip code rather than a county.  Because some zip codes span multiple counties, any analysis done on claims numbers on a per-county basis will count the entirety of claims from those prescribers, meaning the prescriber’s claims may be double or triple counted.</a:t>
            </a:r>
          </a:p>
          <a:p>
            <a:pPr marL="0" indent="0">
              <a:buNone/>
            </a:pPr>
            <a:r>
              <a:rPr lang="en-US" dirty="0"/>
              <a:t>The data available about overdose deaths does not state whether those deaths are caused by overdoses on opioids or other types of drugs, and does not contain information on whether they were prescribed medications or not.  This additional information would allow for valuable further analysis.</a:t>
            </a:r>
          </a:p>
          <a:p>
            <a:pPr marL="0" indent="0">
              <a:buNone/>
            </a:pPr>
            <a:r>
              <a:rPr lang="en-US" dirty="0"/>
              <a:t>Finally, there are many other factors that may influence the use of opioids that cannot be predicted by or measured with these data sets.  A broader look may find additional facts that help in identifying at-risk areas or proposing solutions to overuse of opioids.</a:t>
            </a:r>
          </a:p>
        </p:txBody>
      </p:sp>
    </p:spTree>
    <p:extLst>
      <p:ext uri="{BB962C8B-B14F-4D97-AF65-F5344CB8AC3E}">
        <p14:creationId xmlns:p14="http://schemas.microsoft.com/office/powerpoint/2010/main" val="2597692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812B4-A8DA-F5CD-6937-F3C9806BC526}"/>
              </a:ext>
            </a:extLst>
          </p:cNvPr>
          <p:cNvSpPr>
            <a:spLocks noGrp="1"/>
          </p:cNvSpPr>
          <p:nvPr>
            <p:ph type="title"/>
          </p:nvPr>
        </p:nvSpPr>
        <p:spPr/>
        <p:txBody>
          <a:bodyPr/>
          <a:lstStyle/>
          <a:p>
            <a:r>
              <a:rPr lang="en-US" dirty="0"/>
              <a:t>Further Notes About the Data</a:t>
            </a:r>
          </a:p>
        </p:txBody>
      </p:sp>
      <p:sp>
        <p:nvSpPr>
          <p:cNvPr id="3" name="Content Placeholder 2">
            <a:extLst>
              <a:ext uri="{FF2B5EF4-FFF2-40B4-BE49-F238E27FC236}">
                <a16:creationId xmlns:a16="http://schemas.microsoft.com/office/drawing/2014/main" id="{BBF36D3E-B7D9-46AB-3420-E7C5B36A93B3}"/>
              </a:ext>
            </a:extLst>
          </p:cNvPr>
          <p:cNvSpPr>
            <a:spLocks noGrp="1"/>
          </p:cNvSpPr>
          <p:nvPr>
            <p:ph idx="1"/>
          </p:nvPr>
        </p:nvSpPr>
        <p:spPr/>
        <p:txBody>
          <a:bodyPr/>
          <a:lstStyle/>
          <a:p>
            <a:r>
              <a:rPr lang="en-US" dirty="0"/>
              <a:t>Data on prescription claims, prescriber locations, and overdose deaths were retrieved from the Centers for Medicare &amp; Medicaid Services, and supplemented by unemployment and population data from the Tennessee Department of Economic and Community Development (ECD).</a:t>
            </a:r>
          </a:p>
          <a:p>
            <a:r>
              <a:rPr lang="en-US" dirty="0"/>
              <a:t>Data on prescription claims covers the years 2013 – 2017 as an aggregated amount.</a:t>
            </a:r>
          </a:p>
          <a:p>
            <a:r>
              <a:rPr lang="en-US" dirty="0"/>
              <a:t>Overdose death data covers the years 2015 – 2018.</a:t>
            </a:r>
          </a:p>
          <a:p>
            <a:r>
              <a:rPr lang="en-US" dirty="0"/>
              <a:t>Unemployment data covers the years 2011 – 2017.</a:t>
            </a:r>
          </a:p>
        </p:txBody>
      </p:sp>
    </p:spTree>
    <p:extLst>
      <p:ext uri="{BB962C8B-B14F-4D97-AF65-F5344CB8AC3E}">
        <p14:creationId xmlns:p14="http://schemas.microsoft.com/office/powerpoint/2010/main" val="1230637454"/>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101</TotalTime>
  <Words>788</Words>
  <Application>Microsoft Office PowerPoint</Application>
  <PresentationFormat>Widescreen</PresentationFormat>
  <Paragraphs>52</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Retrospect</vt:lpstr>
      <vt:lpstr>Tennessee Opioid Use Trends</vt:lpstr>
      <vt:lpstr>Intro</vt:lpstr>
      <vt:lpstr>Deaths Over Time</vt:lpstr>
      <vt:lpstr>Deaths Over Time</vt:lpstr>
      <vt:lpstr>Spending on Opioids</vt:lpstr>
      <vt:lpstr>Death rates vary within narrow band of spending</vt:lpstr>
      <vt:lpstr>Percent of prescription spending on opioids</vt:lpstr>
      <vt:lpstr>Increased proportion of opioid spending not related to death rate</vt:lpstr>
      <vt:lpstr>Overdose Deaths Per Capita</vt:lpstr>
      <vt:lpstr>Spending Overall Per Capita</vt:lpstr>
      <vt:lpstr>Opioid Spending Per Capita</vt:lpstr>
      <vt:lpstr>Unemployment</vt:lpstr>
      <vt:lpstr>Unemployment</vt:lpstr>
      <vt:lpstr>Top Prescribers of Opioids</vt:lpstr>
      <vt:lpstr>Top Prescribers of Opioids</vt:lpstr>
      <vt:lpstr>Davidson County</vt:lpstr>
      <vt:lpstr>Conclusion</vt:lpstr>
      <vt:lpstr>Further Notes About the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Eric Sanders</dc:creator>
  <cp:lastModifiedBy>Raven Edgerton</cp:lastModifiedBy>
  <cp:revision>3</cp:revision>
  <dcterms:created xsi:type="dcterms:W3CDTF">2025-11-19T15:49:53Z</dcterms:created>
  <dcterms:modified xsi:type="dcterms:W3CDTF">2025-11-19T17:35:18Z</dcterms:modified>
</cp:coreProperties>
</file>